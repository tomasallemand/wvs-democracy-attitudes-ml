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57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CADCFC"/>
                </a:solidFill>
              </a:rPr>
              <a:t>MACHINE LEARNING · POLITICAL SCIENCE · SURVEY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Predicting Attitudes</a:t>
            </a:r>
            <a:endParaRPr lang="en-US" sz="4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Toward Democracy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8176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A Machine Learning Case Study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4320540"/>
            <a:ext cx="41148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5948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</a:rPr>
              <a:t>World Values Survey  ·  Wave 7  ·  Argentina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CORE QUESTION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</a:rPr>
              <a:t>What distinguishes people who strongly value democracy from those who don’t - and can we predict it from other survey responses?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9260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2926080"/>
            <a:ext cx="2468880" cy="31089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260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291840"/>
            <a:ext cx="246888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World Values Survey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Wave 7 — Argentina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9260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926080"/>
            <a:ext cx="2468880" cy="31089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9260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3291840"/>
            <a:ext cx="246888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1,003 respondents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~395 variables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29260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2926080"/>
            <a:ext cx="2468880" cy="31089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9260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3291840"/>
            <a:ext cx="246888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Q250: Importance of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Democracy (1–10)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TARGET VARIABLE</a:t>
            </a:r>
            <a:endParaRPr lang="en-US" sz="1100" dirty="0"/>
          </a:p>
        </p:txBody>
      </p:sp>
      <p:pic>
        <p:nvPicPr>
          <p:cNvPr id="4" name="Image 0" descr="/home/claude/chart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914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Binarization Strategy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0" y="137160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Q250 is highly skewed (most respondents cluster at 9-10).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Threshold applied at score &gt; 8 to create a meaningful binary split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Class 0 (scores 1–8): 32% - lower democratic valuation -.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Class 1 (scores 9–10): 68% - higher democratic valuation -.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Class imbalance (~2:1) addressed by optimizing for F1-score, not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EXPLORATORY ANALYSIS</a:t>
            </a:r>
            <a:endParaRPr lang="en-US" sz="1100" dirty="0"/>
          </a:p>
        </p:txBody>
      </p:sp>
      <p:pic>
        <p:nvPicPr>
          <p:cNvPr id="4" name="Image 0" descr="/home/claude/chart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1206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914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Patterns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0" y="14173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</a:rPr>
              <a:t>Army_Rule (0.38)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0" y="16550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Strongest EDA signal - rejecting military rule aligns with higher democratic valuation -.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0" y="216712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</a:rPr>
              <a:t>Trust in Elections (0.40)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2404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Institutional trust and democratic valuation move closely together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0" y="291693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</a:rPr>
              <a:t>Gender Equality (0.37)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3154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Egalitarian attitudes correlate with democratic values, and also with institutional trust (0.53)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0" y="366674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</a:rPr>
              <a:t>Corruption (0.27)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0" y="39044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Weak signal: people value democracy even when they perceive high corruption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MODELING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18288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Preprocess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976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Negative values → NaN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Mode imputation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Standard scaling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50008" y="2194560"/>
            <a:ext cx="28346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05156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051560"/>
            <a:ext cx="18288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Select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24912" y="21976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SelectKBest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F-test vs binary target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k = 6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98848" y="2194560"/>
            <a:ext cx="28346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05156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51560"/>
            <a:ext cx="18288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0600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Compare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1976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Logistic Regression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Random 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XGBoost · CatBoost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47688" y="2194560"/>
            <a:ext cx="28346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05156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051560"/>
            <a:ext cx="18288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1527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Tune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21976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GridSearchCV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Stratified 5-fold 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Optimize F1-score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566160"/>
            <a:ext cx="8092440" cy="457200"/>
          </a:xfrm>
          <a:prstGeom prst="rect">
            <a:avLst/>
          </a:prstGeom>
          <a:solidFill>
            <a:srgbClr val="1E2761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" y="35661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761"/>
                </a:solidFill>
              </a:rPr>
              <a:t>All preprocessing steps are performed inside the sklearn Pipeline — no data leakage across cross-validation folds.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MODEL 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11480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WINNER: LOGISTIC REGRESSION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91440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77%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08176" y="1389888"/>
            <a:ext cx="91440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14630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0.85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08176" y="1984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F1 - Class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389888"/>
            <a:ext cx="91440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4630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0.56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50592" y="1984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F1 - Class 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93008" y="1389888"/>
            <a:ext cx="91440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4630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0.792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93008" y="1984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ROC-AUC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46320" y="822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RESULTS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1560576"/>
            <a:ext cx="3977640" cy="276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Logistic Regression with C=10 and k=6 features achieved the best cross-validated F1.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Expected: regularized linear models often outperform ensembles on small datasets with threshold-based targets.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F1 optimized over accuracy: deliberate choice given the 2:1 class imbalance.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ROC-AUC of 0.792 confirms meaningful discrimination above a naive baseline.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11 false negatives: respondents who genuinely scored 9-10 but were predicted as low-valuation.</a:t>
            </a:r>
            <a:endParaRPr lang="en-US" sz="10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971E4EC-9FF6-55BA-A639-DF1F1287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2451893"/>
            <a:ext cx="3285744" cy="26258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FEATURE IMPORTANCE</a:t>
            </a:r>
            <a:endParaRPr lang="en-US" sz="1100" dirty="0"/>
          </a:p>
        </p:txBody>
      </p:sp>
      <p:pic>
        <p:nvPicPr>
          <p:cNvPr id="4" name="Image 0" descr="/home/claude/chart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What the model uses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06440" y="1417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</a:rPr>
              <a:t>6 features selected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06440" y="16550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SelectKBest with F-test on binarized target (ranking differs from Spearman used in EDA).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06440" y="22219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</a:rPr>
              <a:t>Army_Rule dominates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24597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Largest absolute coefficient (0.57), consistent with EDA findings.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3026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</a:rPr>
              <a:t>Diverse domains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06440" y="32644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Political system attitudes + conceptions of democracy + moral attitudes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06440" y="38313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</a:rPr>
              <a:t>Coefficients ≠ causal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40690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Magnitude shows importance; direction reflects multivariate partial effects (see next slide)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EXPLAINABILITY — SHAP DIRECTIONALITY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01968" y="1029594"/>
            <a:ext cx="2130552" cy="254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Each dot is one respondent in the test set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>
              <a:solidFill>
                <a:srgbClr val="1A1A2E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Position on X axis = magnitude and direction of impact on the prediction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>
              <a:solidFill>
                <a:srgbClr val="1A1A2E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Color = feature value (red = high, blue = low)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>
              <a:solidFill>
                <a:srgbClr val="1A1A2E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Positive SHAP = pushes toward Class 1 (high democratic valuation)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0630" y="4088642"/>
            <a:ext cx="8497610" cy="658368"/>
          </a:xfrm>
          <a:prstGeom prst="rect">
            <a:avLst/>
          </a:prstGeom>
          <a:solidFill>
            <a:srgbClr val="1E2761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11022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Note on suppression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4340102"/>
            <a:ext cx="8229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64748B"/>
                </a:solidFill>
              </a:rPr>
              <a:t>Some directions differ from EDA correlations. When correlated features enter together, the model estimates partial effects. Individual signs can flip. This is statistical suppression, not a modeling error.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B10FFFD-359D-6B11-5204-9F2166ACC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30" y="1029594"/>
            <a:ext cx="5983633" cy="25426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38404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384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932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 causal inference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Cross-sectional observational data. The model identifies associations, not mechanisms.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841248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841248"/>
            <a:ext cx="38404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841248"/>
            <a:ext cx="384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932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Single-country sample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20700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Argentina only (WVS Wave 7, n ≈ 989). Findings may not generalize across cultural contexts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20240"/>
            <a:ext cx="38404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20240"/>
            <a:ext cx="384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011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Self-report bias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286000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Social desirability effects are plausible in items about democratic values.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26280" y="192024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1920240"/>
            <a:ext cx="38404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920240"/>
            <a:ext cx="384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011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Threshold sensitivity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286000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Binarization at score &gt; 8 is a modeling choice. A different threshold produces a different model.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999232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99232"/>
            <a:ext cx="38404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99232"/>
            <a:ext cx="384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090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Feature stability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364992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Data-driven selection (SelectKBest) may retain variables correlated with the target for sample-specific reasons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26280" y="2999232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2999232"/>
            <a:ext cx="38404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2999232"/>
            <a:ext cx="384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090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Coefficient interpretability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364992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Statistical suppression affects individual coefficient signs. SHAP reflects partial effects, not univariate relationships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9548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</a:rPr>
              <a:t>Full analysis, code, and interpretation available in the notebook.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627007"/>
            <a:ext cx="45720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6416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github.com/tomasallemand/wvs-democracy-attitudes-ml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ADCFC">
                    <a:alpha val="70000"/>
                  </a:srgbClr>
                </a:solidFill>
              </a:rPr>
              <a:t>World Values Survey · Wave 7 · Argentina</a:t>
            </a:r>
            <a:endParaRPr lang="en-US" sz="10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CADCFC">
                    <a:alpha val="70000"/>
                  </a:srgbClr>
                </a:solidFill>
              </a:rPr>
              <a:t>Haerpfer et al. (2022) · doi:10.14281/18241.20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ADCFC"/>
                </a:solidFill>
              </a:rPr>
              <a:t>Predicting Attitudes Toward Democracy  ·  Machine Learning Case Study</a:t>
            </a:r>
            <a:endParaRPr lang="en-US" sz="9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FEDFF4-2197-1A54-E2B7-ACA1C0ACFF59}"/>
              </a:ext>
            </a:extLst>
          </p:cNvPr>
          <p:cNvSpPr txBox="1"/>
          <p:nvPr/>
        </p:nvSpPr>
        <p:spPr>
          <a:xfrm>
            <a:off x="359664" y="63650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ADCFC"/>
                </a:solidFill>
              </a:rPr>
              <a:t>DIVE DEEPER</a:t>
            </a:r>
            <a:endParaRPr lang="es-AR" sz="3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685</Words>
  <Application>Microsoft Office PowerPoint</Application>
  <PresentationFormat>Presentación en pantalla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Attitudes Toward Democracy</dc:title>
  <dc:subject>PptxGenJS Presentation</dc:subject>
  <dc:creator>PptxGenJS</dc:creator>
  <cp:lastModifiedBy>Tomas Allemand</cp:lastModifiedBy>
  <cp:revision>3</cp:revision>
  <dcterms:created xsi:type="dcterms:W3CDTF">2026-03-01T15:34:12Z</dcterms:created>
  <dcterms:modified xsi:type="dcterms:W3CDTF">2026-03-03T01:27:07Z</dcterms:modified>
</cp:coreProperties>
</file>